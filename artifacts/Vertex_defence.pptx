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633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E1633"/>
                </a:solidFill>
                <a:latin typeface="Cambria"/>
              </a:rPr>
              <a:t>Из скольких сигналов подтверждается мошенничество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подтверждений</c:v>
                </c:pt>
              </c:strCache>
            </c:strRef>
          </c:tx>
          <c:spPr>
            <a:solidFill>
              <a:srgbClr val="C2680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18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68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C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Верхние 10 % списка</c:v>
                  </c:pt>
                  <c:pt idx="1">
                    <c:v>Порог под половину дропперов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0.008</c:v>
                </c:pt>
                <c:pt idx="1">
                  <c:v>0.86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018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633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0E1633"/>
                </a:solidFill>
                <a:latin typeface="Cambria"/>
              </a:rPr>
              <a:t>Десять независимых запусков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C2680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182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68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FA3C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Критерии приказа</c:v>
                  </c:pt>
                  <c:pt idx="1">
                    <c:v>Vertex на тех же данных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0.761</c:v>
                </c:pt>
                <c:pt idx="1">
                  <c:v>0.959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018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b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строим не ещё один детектор мошенничества, а среду, в которой обнаружение можно измерить — и измерения, сделанные в ней.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та точность, которая была бы в понедельник, а не подогнанная задним числом.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Разница между «выбрали сложность и назвали её» и «построили пять миров, показали тот, где выиграли».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вопрос любого человека из банка. Мы его измерили, а не отмахнулись.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Тот же детектор, другая политика применения.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уровень сильнее, другой переживает противника, который платит. Поэтому в системе работают оба.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81160" y="1143000"/>
            <a:ext cx="2194560" cy="2194560"/>
          </a:xfrm>
          <a:prstGeom prst="ellipse">
            <a:avLst/>
          </a:prstGeom>
          <a:solidFill>
            <a:srgbClr val="1B2A52"/>
          </a:solidFill>
          <a:ln w="12700">
            <a:solidFill>
              <a:srgbClr val="2C417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6916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VERTEX</a:t>
            </a:r>
            <a:endParaRPr lang="en-US" sz="6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0632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C3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графов и потоков</a:t>
            </a:r>
            <a:endParaRPr lang="en-US" sz="21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C3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выявления финансового мошенничества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480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Научно-исследовательский проект  ·  НИШ ФМН г. Шымкент  ·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31720"/>
            <a:ext cx="1371600" cy="1371600"/>
          </a:xfrm>
          <a:prstGeom prst="ellipse">
            <a:avLst/>
          </a:prstGeom>
          <a:solidFill>
            <a:srgbClr val="1B2A52"/>
          </a:solidFill>
          <a:ln w="19050">
            <a:solidFill>
              <a:srgbClr val="C2680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715768"/>
            <a:ext cx="603504" cy="6035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5603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560320" y="25146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Дропы — это выход схемы, а не сама схема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33832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3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Ловить последние сто метров поздно: деньги уже в банкомате.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Проблема, у которой нет открытых данных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965960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809" y="21133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78408" y="2697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6,87 %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344728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инцидентов с дропами из 80 871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обращения в Антифрод-центр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1965960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29" y="211336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81728" y="2697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4681728" y="344728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финансовых пирамид ликвидировано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полгода, 86 тыс. вовлечённых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2440" y="169164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5048" y="1965960"/>
            <a:ext cx="566928" cy="566928"/>
          </a:xfrm>
          <a:prstGeom prst="ellipse">
            <a:avLst/>
          </a:prstGeom>
          <a:solidFill>
            <a:srgbClr val="C2680E"/>
          </a:solidFill>
          <a:ln w="12700">
            <a:solidFill>
              <a:srgbClr val="C2680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9" y="21133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5048" y="2697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6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3"/>
          <p:cNvSpPr txBox="1"/>
          <p:nvPr/>
        </p:nvSpPr>
        <p:spPr>
          <a:xfrm>
            <a:off x="8385048" y="344728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открытых данных транзакционного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антифрода национального уровня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85800" y="4251960"/>
            <a:ext cx="10789920" cy="1463040"/>
          </a:xfrm>
          <a:prstGeom prst="roundRect">
            <a:avLst>
              <a:gd name="adj" fmla="val 3750"/>
            </a:avLst>
          </a:prstGeom>
          <a:solidFill>
            <a:srgbClr val="FBF1E4"/>
          </a:solidFill>
          <a:ln w="12700">
            <a:solidFill>
              <a:srgbClr val="FBF1E4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1051560" y="4480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Нацбанка требует перехода «от реакции к предотвращению» — транзакционного антифрода на уровне национальных платёжных систем. Этой стадии ещё не существует, поэтому данных с неё нет ни у кого, включая банки. Значит их надо построить.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Действующие критерии описывают личность, а не поток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789920" cy="1097280"/>
          </a:xfrm>
          <a:prstGeom prst="roundRect">
            <a:avLst>
              <a:gd name="adj" fmla="val 50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02536"/>
            <a:ext cx="566928" cy="566928"/>
          </a:xfrm>
          <a:prstGeom prst="ellipse">
            <a:avLst/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241" y="2149937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38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Счёт в чёрном списке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195681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счёт оформляется на человека, которого нет ни в одной базе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3017520"/>
            <a:ext cx="10789920" cy="1097280"/>
          </a:xfrm>
          <a:prstGeom prst="roundRect">
            <a:avLst>
              <a:gd name="adj" fmla="val 50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3282696"/>
            <a:ext cx="566928" cy="566928"/>
          </a:xfrm>
          <a:prstGeom prst="ellipse">
            <a:avLst/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241" y="343009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3218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Общее устройство или IP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806440" y="323697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Виртуальные устройства и SIM меняются автоматически за минуты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85800" y="4297680"/>
            <a:ext cx="10789920" cy="1097280"/>
          </a:xfrm>
          <a:prstGeom prst="roundRect">
            <a:avLst>
              <a:gd name="adj" fmla="val 50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4562856"/>
            <a:ext cx="566928" cy="566928"/>
          </a:xfrm>
          <a:prstGeom prst="ellipse">
            <a:avLst/>
          </a:prstGeom>
          <a:solidFill>
            <a:srgbClr val="1B2A52"/>
          </a:solidFill>
          <a:ln w="12700">
            <a:solidFill>
              <a:srgbClr val="1B2A5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241" y="471025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498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Отклонение от профиля клиента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806440" y="451713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только что открытого счёта профиля ещё не существует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критерия из четырёх обходятся за минуты. Форму денежного потока обойти нельзя — не переставая быть схемой.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31720"/>
            <a:ext cx="1371600" cy="1371600"/>
          </a:xfrm>
          <a:prstGeom prst="ellipse">
            <a:avLst/>
          </a:prstGeom>
          <a:solidFill>
            <a:srgbClr val="1B2A52"/>
          </a:solidFill>
          <a:ln w="19050">
            <a:solidFill>
              <a:srgbClr val="C2680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715768"/>
            <a:ext cx="603504" cy="6035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5603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560320" y="25146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Полигон, где ответ известен заранее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33832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3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можно не похвалить, а измерить — в том числе там, где он ломается.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сырых событий до дела на столе — одной командой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901952" cy="1828800"/>
          </a:xfrm>
          <a:prstGeom prst="roundRect">
            <a:avLst>
              <a:gd name="adj" fmla="val 40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01600" dist="25400" dir="5400000">
              <a:srgbClr val="D5DAE6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3312" y="2148840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713" y="22962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8529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Мир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004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тыс. событий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70048" y="2697480"/>
            <a:ext cx="219456" cy="201168"/>
          </a:xfrm>
          <a:prstGeom prst="rightArrow">
            <a:avLst/>
          </a:prstGeom>
          <a:solidFill>
            <a:srgbClr val="9AA6BD"/>
          </a:solidFill>
          <a:ln w="12700">
            <a:solidFill>
              <a:srgbClr val="9AA6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98648" y="1920240"/>
            <a:ext cx="1901952" cy="1828800"/>
          </a:xfrm>
          <a:prstGeom prst="roundRect">
            <a:avLst>
              <a:gd name="adj" fmla="val 40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01600" dist="25400" dir="5400000">
              <a:srgbClr val="D5DAE6">
                <a:alpha val="5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2148840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561" y="22962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90088" y="28529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групп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990088" y="32004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файла ответов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82896" y="2697480"/>
            <a:ext cx="219456" cy="201168"/>
          </a:xfrm>
          <a:prstGeom prst="rightArrow">
            <a:avLst/>
          </a:prstGeom>
          <a:solidFill>
            <a:srgbClr val="9AA6BD"/>
          </a:solidFill>
          <a:ln w="12700">
            <a:solidFill>
              <a:srgbClr val="9AA6B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11496" y="1920240"/>
            <a:ext cx="1901952" cy="1828800"/>
          </a:xfrm>
          <a:prstGeom prst="roundRect">
            <a:avLst>
              <a:gd name="adj" fmla="val 40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01600" dist="25400" dir="5400000">
              <a:srgbClr val="D5DAE6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79008" y="2148840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409" y="229624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02936" y="28529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Признаки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202936" y="32004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потока денег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095744" y="2697480"/>
            <a:ext cx="219456" cy="201168"/>
          </a:xfrm>
          <a:prstGeom prst="rightArrow">
            <a:avLst/>
          </a:prstGeom>
          <a:solidFill>
            <a:srgbClr val="9AA6BD"/>
          </a:solidFill>
          <a:ln w="12700">
            <a:solidFill>
              <a:srgbClr val="9AA6B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24344" y="1920240"/>
            <a:ext cx="1901952" cy="1828800"/>
          </a:xfrm>
          <a:prstGeom prst="roundRect">
            <a:avLst>
              <a:gd name="adj" fmla="val 4000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01600" dist="25400" dir="5400000">
              <a:srgbClr val="D5DAE6">
                <a:alpha val="5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91856" y="2148840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257" y="229624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15784" y="28529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Детектор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415784" y="32004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на прошлом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9308592" y="2697480"/>
            <a:ext cx="219456" cy="201168"/>
          </a:xfrm>
          <a:prstGeom prst="rightArrow">
            <a:avLst/>
          </a:prstGeom>
          <a:solidFill>
            <a:srgbClr val="9AA6BD"/>
          </a:solidFill>
          <a:ln w="12700">
            <a:solidFill>
              <a:srgbClr val="9AA6B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537192" y="1920240"/>
            <a:ext cx="1901952" cy="1828800"/>
          </a:xfrm>
          <a:prstGeom prst="roundRect">
            <a:avLst>
              <a:gd name="adj" fmla="val 4000"/>
            </a:avLst>
          </a:prstGeom>
          <a:solidFill>
            <a:srgbClr val="C2680E"/>
          </a:solidFill>
          <a:ln w="12700">
            <a:solidFill>
              <a:srgbClr val="C2680E"/>
            </a:solidFill>
            <a:prstDash val="solid"/>
          </a:ln>
          <a:effectLst>
            <a:outerShdw sx="100000" sy="100000" kx="0" ky="0" algn="bl" rotWithShape="0" blurRad="101600" dist="25400" dir="5400000">
              <a:srgbClr val="D5DAE6">
                <a:alpha val="5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04704" y="21488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2105" y="2296241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28632" y="28529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Очередь дел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628632" y="320040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отрезана порогом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685800" y="4160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6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scripts/run_demo.py --preset full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685800" y="46634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Собирает очередь, поднимает сервис и интерфейс, дожидается их проверок здоровья и печатает адрес. 17 секунд на весь конвейер, ни одного шага вручную.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685800" y="61447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автоматических теста и шесть гейтов качества — всё одной командой.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правила, из-за которых числам можно верить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1947672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809" y="2095073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65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только на прошлом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25328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Purged walk-forward с зазором: ни одна строка не оценивалась моделью, которая её видела.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0528" y="1947672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929" y="209507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965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Группы ищутся вслепую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0528" y="25328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Детектору не передаётся готовая банда. Доля найденного — измеряемый потолок, а не единица по построению.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85800" y="370332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8408" y="3959352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809" y="410675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3977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Признак против шумового пола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978408" y="454456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побил перемешанный контроль — не подключается. Отрицательный результат тоже результат.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370332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0528" y="3959352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929" y="410675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3977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каждого уровня свой потолок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510528" y="454456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объектов уровень способен увидеть до всякой модели. Оценка без потолка верится по неверной причине.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31720"/>
            <a:ext cx="1371600" cy="1371600"/>
          </a:xfrm>
          <a:prstGeom prst="ellipse">
            <a:avLst/>
          </a:prstGeom>
          <a:solidFill>
            <a:srgbClr val="1B2A52"/>
          </a:solidFill>
          <a:ln w="19050">
            <a:solidFill>
              <a:srgbClr val="C2680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715768"/>
            <a:ext cx="603504" cy="6035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5603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560320" y="25146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измеренных результатов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33832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3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написано, как он проверен и чего он не доказывает.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система кладёт человеку на стол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874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243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 в очереди за отрезок,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который детектор не видел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FBF1E4"/>
          </a:solidFill>
          <a:ln w="12700">
            <a:solidFill>
              <a:srgbClr val="FBF1E4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09160" y="1874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26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6243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них — настоящие дропперы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64592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0" y="18745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48 %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6243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всех дропперов отрезка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пойманы этой очередью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10789920" cy="1783080"/>
          </a:xfrm>
          <a:prstGeom prst="roundRect">
            <a:avLst>
              <a:gd name="adj" fmla="val 307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4279392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241" y="4426793"/>
            <a:ext cx="272125" cy="27212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783080" y="420624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Очередь режется порогом, а не бюджетом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783080" y="466344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 выбирается по прошлым отрезкам и применяется к следующему, которого детектор не видел. Поэтому длина очереди — результат, а не настройка: тихая неделя даёт короткий список, и это верное поведение.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Сложность объявлена ДО прогонов — и показаны все ступени</a:t>
            </a:r>
            <a:endParaRPr lang="en-US" sz="3200" dirty="0"/>
          </a:p>
        </p:txBody>
      </p:sp>
      <p:pic>
        <p:nvPicPr>
          <p:cNvPr id="4" name="Image 0" descr="/home/user/APRIS-mvp/artifacts/figures/defence/lad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554480"/>
            <a:ext cx="923544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5806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миров, один детектор. На пятой ступени групповой уровень не ошибается — у него вообще нет оценки.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Главный вопрос банка: а если мошенников мало?</a:t>
            </a:r>
            <a:endParaRPr lang="en-US" sz="3200" dirty="0"/>
          </a:p>
        </p:txBody>
      </p:sp>
      <p:pic>
        <p:nvPicPr>
          <p:cNvPr id="4" name="Image 0" descr="/home/user/APRIS-mvp/artifacts/figures/defence/rar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554480"/>
            <a:ext cx="923544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5806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7 % до 0,1 % мошенников: ROC-AUC падает лишь с 0,957 до 0,894, а работа аналитика растёт в 80 раз.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Ответ: менять надо не детектор, а способ им пользоваться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доле мошенников 0,1 % — как в жизни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965960"/>
          <a:ext cx="60350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1965960"/>
            <a:ext cx="4389120" cy="1325880"/>
          </a:xfrm>
          <a:prstGeom prst="roundRect">
            <a:avLst>
              <a:gd name="adj" fmla="val 413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0" y="21122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A64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148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сигналов на 1000 счетов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фиксированном бюджете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3456432"/>
            <a:ext cx="4389120" cy="1325880"/>
          </a:xfrm>
          <a:prstGeom prst="roundRect">
            <a:avLst>
              <a:gd name="adj" fmla="val 4138"/>
            </a:avLst>
          </a:prstGeom>
          <a:solidFill>
            <a:srgbClr val="FBF1E4"/>
          </a:solidFill>
          <a:ln w="12700">
            <a:solidFill>
              <a:srgbClr val="FBF1E4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06640" y="360273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6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36393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сигнала на 1000 счетов,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поймать половину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 списка крутой: половина мошенников лежит выше порога, до которого почти не дотягивается никто честный. Первая половина очереди почти бесплатна — и это то, что банк может применить завтра, ничего не переобучая.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стоит спрятаться — и что именно ломается</a:t>
            </a:r>
            <a:endParaRPr lang="en-US" sz="3200" dirty="0"/>
          </a:p>
        </p:txBody>
      </p:sp>
      <p:pic>
        <p:nvPicPr>
          <p:cNvPr id="4" name="Image 0" descr="/home/user/APRIS-mvp/artifacts/figures/defence/evas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554480"/>
            <a:ext cx="923544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58064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Групповой поиск ломается на третьем источнике денег. Поиск по одному человеку не замечает уклонения вообще.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6-7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против потока, и вся схема целиком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691640"/>
          <a:ext cx="59436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420624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— не разрыв, а его причина: три критерия из четырёх описывают личность и оборудование, а не денежный поток. Кольцо чистых счетов проходит их насквозь.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086600" y="1691640"/>
            <a:ext cx="4389120" cy="3520440"/>
          </a:xfrm>
          <a:prstGeom prst="roundRect">
            <a:avLst>
              <a:gd name="adj" fmla="val 1558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  <a:effectLst>
            <a:outerShdw sx="100000" sy="100000" kx="0" ky="0" algn="bl" rotWithShape="0" blurRad="127000" dist="25400" dir="5400000">
              <a:srgbClr val="D5DAE6">
                <a:alpha val="5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06640" y="1965960"/>
            <a:ext cx="566928" cy="566928"/>
          </a:xfrm>
          <a:prstGeom prst="ellipse">
            <a:avLst/>
          </a:prstGeom>
          <a:solidFill>
            <a:srgbClr val="0E1633"/>
          </a:solidFill>
          <a:ln w="12700">
            <a:solidFill>
              <a:srgbClr val="0E16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041" y="2113361"/>
            <a:ext cx="272125" cy="2721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0664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Крипто-канал в мире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406640" y="3154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из 5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778240" y="32095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типологий приказа работают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40664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542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8778240" y="38953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крипто-события, 15 колец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06640" y="4526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6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8778240" y="45811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срабатываний на честных трейдерах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61447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Честные крипто-трейдеры — обязательный контроль: без них детектор выучил бы «крипта = мошенничество».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26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дефектов, которые мы нашли у себя сами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тоже результат: он показывает, что мы себя проверяли, а не только хвалили.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84048" cy="384048"/>
          </a:xfrm>
          <a:prstGeom prst="ellipse">
            <a:avLst/>
          </a:prstGeom>
          <a:solidFill>
            <a:srgbClr val="FBF1E4"/>
          </a:solidFill>
          <a:ln w="12700">
            <a:solidFill>
              <a:srgbClr val="FBF1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6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Генератор писал ответ в признаки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98424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1,0000 → 0,81 после разделения. Первая честная цифра.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FBF1E4"/>
          </a:solidFill>
          <a:ln w="12700">
            <a:solidFill>
              <a:srgbClr val="FBF1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986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6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072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Сборщик дел брал группы из файла ответов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82549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группы ищутся вслепую, метки прикладываются после.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694176"/>
            <a:ext cx="384048" cy="384048"/>
          </a:xfrm>
          <a:prstGeom prst="ellipse">
            <a:avLst/>
          </a:prstGeom>
          <a:solidFill>
            <a:srgbClr val="FBF1E4"/>
          </a:solidFill>
          <a:ln w="12700">
            <a:solidFill>
              <a:srgbClr val="FBF1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73989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6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6484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Базовая линия жульничала в свою пользу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66674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 «общее устройство» срабатывал на 100 % банд — по построению.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535424"/>
            <a:ext cx="384048" cy="384048"/>
          </a:xfrm>
          <a:prstGeom prst="ellipse">
            <a:avLst/>
          </a:prstGeom>
          <a:solidFill>
            <a:srgbClr val="FBF1E4"/>
          </a:solidFill>
          <a:ln w="12700">
            <a:solidFill>
              <a:srgbClr val="FBF1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58114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6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4897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79 % «честных» были счетами с 1-2 событиями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172200" y="450799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отличала активных от неактивных. Введён порог в 10 событий.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5376672"/>
            <a:ext cx="384048" cy="384048"/>
          </a:xfrm>
          <a:prstGeom prst="ellipse">
            <a:avLst/>
          </a:prstGeom>
          <a:solidFill>
            <a:srgbClr val="FBF1E4"/>
          </a:solidFill>
          <a:ln w="12700">
            <a:solidFill>
              <a:srgbClr val="FBF1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54223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6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3309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лестница мерила дисбаланс классов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5349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на 96 % из мошенников. Правило закреплено тестом.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1447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из пяти не был опечаткой: это работающий код, отвечавший не на тот вопрос.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6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8229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приносим на защиту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947672"/>
            <a:ext cx="603504" cy="603504"/>
          </a:xfrm>
          <a:prstGeom prst="ellipse">
            <a:avLst/>
          </a:prstGeom>
          <a:solidFill>
            <a:srgbClr val="C2680E"/>
          </a:solidFill>
          <a:ln w="12700">
            <a:solidFill>
              <a:srgbClr val="C2680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711" y="2104583"/>
            <a:ext cx="289682" cy="28968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Работающая система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91109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3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сырых событий до очереди дел — одной командой, 17 секунд, 252 теста.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3136392"/>
            <a:ext cx="603504" cy="603504"/>
          </a:xfrm>
          <a:prstGeom prst="ellipse">
            <a:avLst/>
          </a:prstGeom>
          <a:solidFill>
            <a:srgbClr val="C2680E"/>
          </a:solidFill>
          <a:ln w="12700">
            <a:solidFill>
              <a:srgbClr val="C2680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11" y="3293303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измеренных результатов</a:t>
            </a:r>
            <a:endParaRPr lang="en-US" sz="2100" dirty="0"/>
          </a:p>
        </p:txBody>
      </p:sp>
      <p:sp>
        <p:nvSpPr>
          <p:cNvPr id="10" name="Text 6"/>
          <p:cNvSpPr txBox="1"/>
          <p:nvPr/>
        </p:nvSpPr>
        <p:spPr>
          <a:xfrm>
            <a:off x="5897880" y="309981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3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написано, как проверен и чего он не доказывает.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85800" y="4325112"/>
            <a:ext cx="603504" cy="603504"/>
          </a:xfrm>
          <a:prstGeom prst="ellipse">
            <a:avLst/>
          </a:prstGeom>
          <a:solidFill>
            <a:srgbClr val="C2680E"/>
          </a:solidFill>
          <a:ln w="12700">
            <a:solidFill>
              <a:srgbClr val="C2680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11" y="4482023"/>
            <a:ext cx="289682" cy="28968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4251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То, чего нет ни у кого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5897880" y="428853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3D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Полигон, где схема известна заранее, и цена уклонения по шагам.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A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Дальше: крипто-ступень в лестницу миров  ·  метрики BAS и SIS  ·  внешняя валидация на Elliptic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Vertex — аналитика графов и потоков</dc:title>
  <dc:subject>PptxGenJS Presentation</dc:subject>
  <dc:creator>Vertex</dc:creator>
  <cp:lastModifiedBy>Vertex</cp:lastModifiedBy>
  <cp:revision>1</cp:revision>
  <dcterms:created xsi:type="dcterms:W3CDTF">2026-09-06T13:03:38Z</dcterms:created>
  <dcterms:modified xsi:type="dcterms:W3CDTF">2026-09-06T13:03:38Z</dcterms:modified>
</cp:coreProperties>
</file>